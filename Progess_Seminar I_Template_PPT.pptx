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3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  <p:sldMasterId id="2147483672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6858000" cy="9144000"/>
  <p:defaultTextStyle>
    <a:defPPr lvl="0">
      <a:defRPr lang="en-US"/>
    </a:defPPr>
    <a:lvl1pPr defTabSz="914400" eaLnBrk="1" hangingPunct="1" indent="0" latinLnBrk="0" lvl="0" marL="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defTabSz="914400" eaLnBrk="1" hangingPunct="1" indent="0" latinLnBrk="0" lvl="1" marL="4572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defTabSz="914400" eaLnBrk="1" hangingPunct="1" indent="0" latinLnBrk="0" lvl="2" marL="9144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defTabSz="914400" eaLnBrk="1" hangingPunct="1" indent="0" latinLnBrk="0" lvl="3" marL="13716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defTabSz="914400" eaLnBrk="1" hangingPunct="1" indent="0" latinLnBrk="0" lvl="4" marL="18288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defTabSz="914400" eaLnBrk="1" hangingPunct="1" indent="0" latinLnBrk="0" lvl="5" marL="22860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defTabSz="914400" eaLnBrk="1" hangingPunct="1" indent="0" latinLnBrk="0" lvl="6" marL="27432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defTabSz="914400" eaLnBrk="1" hangingPunct="1" indent="0" latinLnBrk="0" lvl="7" marL="32004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defTabSz="914400" eaLnBrk="1" hangingPunct="1" indent="0" latinLnBrk="0" lvl="8" marL="36576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b="0" g="0" r="0"/>
        </a:fontRef>
        <a:schemeClr val="dk1"/>
      </a:tcTxStyle>
      <a:tcStyle>
        <a:tcBdr>
          <a:left>
            <a:ln cmpd="sng" w="12700">
              <a:solidFill>
                <a:schemeClr val="accent4"/>
              </a:solidFill>
            </a:ln>
          </a:left>
          <a:right>
            <a:ln cmpd="sng" w="12700">
              <a:solidFill>
                <a:schemeClr val="accent4"/>
              </a:solidFill>
            </a:ln>
          </a:right>
          <a:top>
            <a:ln cmpd="sng" w="12700">
              <a:solidFill>
                <a:schemeClr val="accent4"/>
              </a:solidFill>
            </a:ln>
          </a:top>
          <a:bottom>
            <a:ln cmpd="sng" w="12700">
              <a:solidFill>
                <a:schemeClr val="accent4"/>
              </a:solidFill>
            </a:ln>
          </a:bottom>
          <a:insideH>
            <a:ln cmpd="sng" w="12700">
              <a:solidFill>
                <a:schemeClr val="accent4"/>
              </a:solidFill>
            </a:ln>
          </a:insideH>
          <a:insideV>
            <a:ln cmpd="sng" w="12700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sng" w="25400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1.xml"/><Relationship Id="rId18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8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27-08-2026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1169988" y="2992438"/>
            <a:ext cx="10031413" cy="3429000"/>
          </a:xfrm>
          <a:prstGeom prst="rect">
            <a:avLst/>
          </a:prstGeom>
        </p:spPr>
        <p:txBody>
          <a:bodyPr>
            <a:normAutofit fontScale="40000" lnSpcReduction="20000"/>
          </a:bodyPr>
          <a:lstStyle/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26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                                 </a:t>
            </a: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&lt; </a:t>
            </a:r>
            <a:r>
              <a:rPr kumimoji="0" lang="en-US" sz="45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Guide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&gt;		                            </a:t>
            </a:r>
          </a:p>
          <a:p>
            <a:pPr marL="274320" indent="-274320" algn="ctr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</a:t>
            </a:r>
            <a:r>
              <a:rPr kumimoji="0" lang="en-US" sz="4500" b="1" u="sng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Projectees</a:t>
            </a: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&lt;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1&gt;                                                          &lt;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2&gt;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&lt;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3&gt;                                                         &lt;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4&gt;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26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5&gt;                                                         &lt;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# 6&gt;</a:t>
            </a:r>
            <a:endParaRPr kumimoji="0" lang="en-US" sz="26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Session 2026</a:t>
            </a:r>
            <a:endParaRPr kumimoji="0" lang="en-US" sz="26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77" name="Rectangle 5"/>
          <p:cNvSpPr txBox="1"/>
          <p:nvPr/>
        </p:nvSpPr>
        <p:spPr>
          <a:xfrm>
            <a:off x="1981200" y="2693988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&lt; Project Title &gt; </a:t>
            </a:r>
            <a:endParaRPr lang="en-US" altLang="en-US" sz="2400" b="1" i="1" u="sng" dirty="0">
              <a:solidFill>
                <a:srgbClr val="FF0000"/>
              </a:solidFill>
              <a:latin typeface="Castellar" panose="020A0402060406010301" pitchFamily="18" charset="0"/>
              <a:ea typeface="Arial" panose="020B0604020202020204" pitchFamily="34" charset="0"/>
            </a:endParaRPr>
          </a:p>
        </p:txBody>
      </p:sp>
      <p:sp>
        <p:nvSpPr>
          <p:cNvPr id="3078" name="Rectangle 5"/>
          <p:cNvSpPr txBox="1"/>
          <p:nvPr/>
        </p:nvSpPr>
        <p:spPr>
          <a:xfrm>
            <a:off x="1981199" y="1832372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Project Progress Seminar -I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9" name="Rectangle 5"/>
          <p:cNvSpPr txBox="1"/>
          <p:nvPr/>
        </p:nvSpPr>
        <p:spPr>
          <a:xfrm>
            <a:off x="1981199" y="2231570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81" name="Rectangle 8"/>
          <p:cNvSpPr/>
          <p:nvPr/>
        </p:nvSpPr>
        <p:spPr>
          <a:xfrm>
            <a:off x="89693" y="289999"/>
            <a:ext cx="12012613" cy="1520544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365125" lvl="1" indent="-285750" algn="ctr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H RAISONI SKILLTECH UNIVERSITY, NAGPUR</a:t>
            </a:r>
          </a:p>
          <a:p>
            <a:pPr marL="365125" lvl="1" indent="-285750" algn="ctr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SCIENCE &amp; TECHNOLOGY</a:t>
            </a:r>
            <a:endParaRPr lang="en-IN" sz="105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(Bachelor of Computer Application)</a:t>
            </a:r>
            <a:endParaRPr lang="en-IN" sz="105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US" altLang="en-US" sz="2000" dirty="0"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566" y="13215"/>
            <a:ext cx="1874520" cy="90186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2" name="Picture 1" descr="G H Raisoni Skill Tech University ...">
            <a:extLst>
              <a:ext uri="{FF2B5EF4-FFF2-40B4-BE49-F238E27FC236}">
                <a16:creationId xmlns:a16="http://schemas.microsoft.com/office/drawing/2014/main" id="{41AA0E98-E35E-5D11-BD17-4CD4E4EF9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3" y="388859"/>
            <a:ext cx="1581104" cy="984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 bwMode="auto">
          <a:xfrm>
            <a:off x="428625" y="1303256"/>
            <a:ext cx="10445750" cy="412115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lang="en-US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Survey 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lang="en-US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 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Justifications for Selecting the Title</a:t>
            </a:r>
          </a:p>
          <a:p>
            <a:pPr marL="274320" indent="-274320" algn="just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Block Diagram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Expected Result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Work plan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12" name="Title 1"/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5122" name="TextBox 1"/>
          <p:cNvSpPr txBox="1"/>
          <p:nvPr/>
        </p:nvSpPr>
        <p:spPr>
          <a:xfrm>
            <a:off x="850265" y="1828164"/>
            <a:ext cx="7159625" cy="369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Introduction / background about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itle 1"/>
          <p:cNvSpPr txBox="1"/>
          <p:nvPr/>
        </p:nvSpPr>
        <p:spPr bwMode="auto">
          <a:xfrm>
            <a:off x="0" y="-18256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61321"/>
              </p:ext>
            </p:extLst>
          </p:nvPr>
        </p:nvGraphicFramePr>
        <p:xfrm>
          <a:off x="0" y="822325"/>
          <a:ext cx="12191999" cy="51386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31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Design and Fabrication of Waste Collecting Machine</a:t>
                      </a:r>
                    </a:p>
                    <a:p>
                      <a:pPr algn="ctr"/>
                      <a:r>
                        <a:rPr lang="en-IN" dirty="0" err="1"/>
                        <a:t>Brijesh</a:t>
                      </a:r>
                      <a:r>
                        <a:rPr lang="en-IN" dirty="0"/>
                        <a:t> K J, </a:t>
                      </a:r>
                      <a:r>
                        <a:rPr lang="en-IN" dirty="0" err="1"/>
                        <a:t>Karthik</a:t>
                      </a:r>
                      <a:r>
                        <a:rPr lang="en-IN" dirty="0"/>
                        <a:t> P, </a:t>
                      </a:r>
                      <a:r>
                        <a:rPr lang="en-IN" dirty="0" err="1"/>
                        <a:t>Adarsh</a:t>
                      </a:r>
                      <a:r>
                        <a:rPr lang="en-IN" dirty="0"/>
                        <a:t> S B, </a:t>
                      </a:r>
                      <a:r>
                        <a:rPr lang="en-IN" dirty="0" err="1"/>
                        <a:t>Githin</a:t>
                      </a:r>
                      <a:r>
                        <a:rPr lang="en-IN" dirty="0"/>
                        <a:t> V, Kevin Xavier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0743"/>
              </p:ext>
            </p:extLst>
          </p:nvPr>
        </p:nvGraphicFramePr>
        <p:xfrm>
          <a:off x="0" y="822325"/>
          <a:ext cx="12191999" cy="45593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31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7170" name="TextBox 7"/>
          <p:cNvSpPr txBox="1"/>
          <p:nvPr/>
        </p:nvSpPr>
        <p:spPr>
          <a:xfrm>
            <a:off x="1673225" y="269081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Problem identified and its justification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-16732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7170" name="TextBox 7"/>
          <p:cNvSpPr txBox="1"/>
          <p:nvPr/>
        </p:nvSpPr>
        <p:spPr>
          <a:xfrm>
            <a:off x="1017905" y="1029653"/>
            <a:ext cx="7159625" cy="175432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IN" altLang="en-US" dirty="0">
                <a:latin typeface="Times New Roman" panose="02020603050405020304" pitchFamily="18" charset="0"/>
              </a:rPr>
              <a:t>Justifications for Selecting the Title</a:t>
            </a:r>
          </a:p>
          <a:p>
            <a:pPr eaLnBrk="0" hangingPunct="0"/>
            <a:endParaRPr lang="en-IN" altLang="en-US" dirty="0">
              <a:latin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IN" altLang="en-US" dirty="0">
                <a:latin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IN" altLang="en-US" dirty="0">
                <a:latin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IN" altLang="en-US" dirty="0">
                <a:latin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I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Justifications for Selecting the Title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18" name="TextBox 7"/>
          <p:cNvSpPr txBox="1"/>
          <p:nvPr/>
        </p:nvSpPr>
        <p:spPr>
          <a:xfrm>
            <a:off x="880745" y="1014413"/>
            <a:ext cx="7159625" cy="2031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Objective of the Project</a:t>
            </a:r>
          </a:p>
          <a:p>
            <a:pPr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242" name="Title 1"/>
          <p:cNvSpPr txBox="1"/>
          <p:nvPr/>
        </p:nvSpPr>
        <p:spPr>
          <a:xfrm>
            <a:off x="2476500" y="40989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243" name="TextBox 7"/>
          <p:cNvSpPr txBox="1"/>
          <p:nvPr/>
        </p:nvSpPr>
        <p:spPr>
          <a:xfrm>
            <a:off x="1673225" y="269081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Expected output of the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Expected Result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1266" name="Title 1"/>
          <p:cNvSpPr txBox="1"/>
          <p:nvPr/>
        </p:nvSpPr>
        <p:spPr>
          <a:xfrm>
            <a:off x="2293938" y="20542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244" name="Table 10243"/>
          <p:cNvGraphicFramePr/>
          <p:nvPr>
            <p:extLst>
              <p:ext uri="{D42A27DB-BD31-4B8C-83A1-F6EECF244321}">
                <p14:modId xmlns:p14="http://schemas.microsoft.com/office/powerpoint/2010/main" val="1348065461"/>
              </p:ext>
            </p:extLst>
          </p:nvPr>
        </p:nvGraphicFramePr>
        <p:xfrm>
          <a:off x="1" y="762001"/>
          <a:ext cx="12191999" cy="5337818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492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1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785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 Months  Activities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JULY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AUG’26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SEPT’26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OCT’26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5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Literature Reviews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47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Component Identification &amp; Selection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70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Designing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53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600" b="1" dirty="0"/>
                        <a:t>Fabrication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141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/>
                        <a:t>Experimental Analysis</a:t>
                      </a:r>
                      <a:endParaRPr lang="en-IN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53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Testing and Debugging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53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Preparation of Project Report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15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Thesis and Poster Submission 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 – Plan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985" y="1389986"/>
            <a:ext cx="111452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(2011). Feedback and optimal sensitivity: Model reference transformations, multiplicative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seminorms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approximate inverses.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Automatic Control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26(2): 301–320.</a:t>
            </a:r>
          </a:p>
        </p:txBody>
      </p:sp>
      <p:sp>
        <p:nvSpPr>
          <p:cNvPr id="3" name="Rectangle 2"/>
          <p:cNvSpPr/>
          <p:nvPr/>
        </p:nvSpPr>
        <p:spPr>
          <a:xfrm>
            <a:off x="514984" y="2617262"/>
            <a:ext cx="10244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Text books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Myers, D. G. (2007). </a:t>
            </a:r>
            <a:r>
              <a:rPr lang="en-IN" i="1" dirty="0">
                <a:latin typeface="Times New Roman" panose="02020603050405020304" pitchFamily="18" charset="0"/>
              </a:rPr>
              <a:t>Psychology </a:t>
            </a:r>
            <a:r>
              <a:rPr lang="en-IN" dirty="0">
                <a:latin typeface="Times New Roman" panose="02020603050405020304" pitchFamily="18" charset="0"/>
              </a:rPr>
              <a:t>(1st Canadian ed.). Worth: New York.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4" y="3581108"/>
            <a:ext cx="112655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Conference proceedings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Payne, D.B. and </a:t>
            </a:r>
            <a:r>
              <a:rPr lang="en-IN" dirty="0" err="1">
                <a:latin typeface="Times New Roman" panose="02020603050405020304" pitchFamily="18" charset="0"/>
              </a:rPr>
              <a:t>Gunhold</a:t>
            </a:r>
            <a:r>
              <a:rPr lang="en-IN" dirty="0">
                <a:latin typeface="Times New Roman" panose="02020603050405020304" pitchFamily="18" charset="0"/>
              </a:rPr>
              <a:t>, H.G. (1986). Digital sundials and broadband technology, In </a:t>
            </a:r>
            <a:r>
              <a:rPr lang="en-IN" i="1" dirty="0">
                <a:latin typeface="Times New Roman" panose="02020603050405020304" pitchFamily="18" charset="0"/>
              </a:rPr>
              <a:t>Proc. IOOC-ECOC, </a:t>
            </a:r>
            <a:r>
              <a:rPr lang="en-IN" dirty="0">
                <a:latin typeface="Times New Roman" panose="02020603050405020304" pitchFamily="18" charset="0"/>
              </a:rPr>
              <a:t>1986, pp. 557-998.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14984" y="4819968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Reports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Milton, M and Robert, L. (2004). Atmospheric carbon emission through genetic algorithm, </a:t>
            </a:r>
            <a:r>
              <a:rPr lang="en-IN" i="1" dirty="0">
                <a:latin typeface="Times New Roman" panose="02020603050405020304" pitchFamily="18" charset="0"/>
              </a:rPr>
              <a:t>Environment and Technical Report No.3.</a:t>
            </a:r>
            <a:r>
              <a:rPr lang="en-IN" dirty="0">
                <a:latin typeface="Times New Roman" panose="02020603050405020304" pitchFamily="18" charset="0"/>
              </a:rPr>
              <a:t>, Indian Meteorological Department., New Delhi.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982" y="1393190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Online journals with a DOI (Digital Object Identifier)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Krebs, D.L. and Denton, K. (2006). Explanatory limitations of cognitive developmental approaches to morality. </a:t>
            </a:r>
            <a:r>
              <a:rPr lang="en-IN" i="1" dirty="0">
                <a:latin typeface="Times New Roman" panose="02020603050405020304" pitchFamily="18" charset="0"/>
              </a:rPr>
              <a:t>Psychological Review, </a:t>
            </a:r>
            <a:r>
              <a:rPr lang="en-IN" dirty="0">
                <a:latin typeface="Times New Roman" panose="02020603050405020304" pitchFamily="18" charset="0"/>
              </a:rPr>
              <a:t>113(3): 672- 675. </a:t>
            </a:r>
            <a:r>
              <a:rPr lang="en-IN" dirty="0" err="1">
                <a:latin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</a:rPr>
              <a:t>: 10.1037/0033-295X.113.3.672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14982" y="2719984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journals without a DOI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Vicki, G.T.,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Thomae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, M., Cullen, A. and Fernandez, H. (2007).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Modeling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 the hydrological impact on Tropical Forests.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Forest Ecology,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13(10): 122-132.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http://www.uiowa.edu/~grpproc/crisp/crisp.html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14981" y="4025525"/>
            <a:ext cx="114636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abstracts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Perilloux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, C. and Buss, D.M. (2008). Human relationships: Costs experienced and coping strategies deployed.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Evolutionary Psychology,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6(1): 164-181. Abstract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http://www.epjournal.net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69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984" y="1393190"/>
            <a:ext cx="111740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books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Perfect, T.J. and Schwartz, B. L. (Eds.) (2002).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Applied metacognition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.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http://www.questia.com/read/107598848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(--If DOI is available, use the DOI instead of a URL)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14984" y="2508290"/>
            <a:ext cx="1117409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Chapters from a book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Krebs, D.L. and Denton, K. (1997). Social illusions and self deception: The evolution of biases in person perception. In J. A. Simpson &amp; D. T. </a:t>
            </a:r>
            <a:r>
              <a:rPr lang="en-IN" dirty="0" err="1">
                <a:latin typeface="Times New Roman" panose="02020603050405020304" pitchFamily="18" charset="0"/>
              </a:rPr>
              <a:t>Kenrick</a:t>
            </a:r>
            <a:r>
              <a:rPr lang="en-IN" dirty="0">
                <a:latin typeface="Times New Roman" panose="02020603050405020304" pitchFamily="18" charset="0"/>
              </a:rPr>
              <a:t> (Eds.), </a:t>
            </a:r>
            <a:r>
              <a:rPr lang="en-IN" i="1" dirty="0">
                <a:latin typeface="Times New Roman" panose="02020603050405020304" pitchFamily="18" charset="0"/>
              </a:rPr>
              <a:t>Evolutionary social psychology </a:t>
            </a:r>
            <a:r>
              <a:rPr lang="en-IN" dirty="0">
                <a:latin typeface="Times New Roman" panose="02020603050405020304" pitchFamily="18" charset="0"/>
              </a:rPr>
              <a:t>(pp.21-48). Hillsdale, NJ: Erlbaum.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14984" y="3987423"/>
            <a:ext cx="112807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Books in print form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Snyder, C.R., Higgins, R.L. and </a:t>
            </a:r>
            <a:r>
              <a:rPr lang="en-IN" dirty="0" err="1">
                <a:latin typeface="Times New Roman" panose="02020603050405020304" pitchFamily="18" charset="0"/>
              </a:rPr>
              <a:t>Stucky</a:t>
            </a:r>
            <a:r>
              <a:rPr lang="en-IN" dirty="0">
                <a:latin typeface="Times New Roman" panose="02020603050405020304" pitchFamily="18" charset="0"/>
              </a:rPr>
              <a:t>, R.J. (Eds.). (1983). </a:t>
            </a:r>
            <a:r>
              <a:rPr lang="en-IN" i="1" dirty="0">
                <a:latin typeface="Times New Roman" panose="02020603050405020304" pitchFamily="18" charset="0"/>
              </a:rPr>
              <a:t>Excuses: Masquerades in search of grace</a:t>
            </a:r>
            <a:r>
              <a:rPr lang="en-IN" dirty="0">
                <a:latin typeface="Times New Roman" panose="02020603050405020304" pitchFamily="18" charset="0"/>
              </a:rPr>
              <a:t>. New York, NY: John Wiley &amp; Sons.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3" y="5046266"/>
            <a:ext cx="111740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Dissertations and Thesis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Mack, S. (2000). “Desperate Optimism” M.S. Thesis, University of Calgary, Canada.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13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G H Raisoni Skill Tech University ...">
            <a:extLst>
              <a:ext uri="{FF2B5EF4-FFF2-40B4-BE49-F238E27FC236}">
                <a16:creationId xmlns:a16="http://schemas.microsoft.com/office/drawing/2014/main" id="{46D4AB03-94B6-6990-1932-227D3D56E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075" y="387350"/>
            <a:ext cx="1983467" cy="9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